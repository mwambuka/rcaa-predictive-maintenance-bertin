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23360"/>
            <a:ext cx="12188952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 Light"/>
              </a:rPr>
              <a:t>Predictive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D6E4F0"/>
                </a:solidFill>
                <a:latin typeface="Calibri Light"/>
              </a:rPr>
              <a:t>for Aircraft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Rwanda Civil Aviation Authority — Data Science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6E4F0"/>
                </a:solidFill>
                <a:latin typeface="Calibri"/>
              </a:rPr>
              <a:t>Predicting component failure within the next 10 flight cycles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What we'll cover in the next 12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Business Context &amp; Problem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Dataset Overview &amp; Key Findings from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Feature Engineering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Model Training &amp;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Explainability: What Drives Failure?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Threshold Optimisation for Aviation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Maintenance Decision Support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83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  <a:latin typeface="Calibri"/>
              </a:rPr>
              <a:t>▪ Challenges, Assumptions &amp; Recommendations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The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Why predictive maintenance matters in aviation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394960" cy="5029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Unplanned failures → AOG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41448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Safety incidents &amp; regulatory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1216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Costly emergency maintenance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00984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Early maintenance wastes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30752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Manual inspection is inefficient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760720" cy="502920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  <a:latin typeface="Calibri"/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11680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ML model flags at-risk 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441448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10-cycle advance warning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87121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Calibrated risk scores (0–1)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300984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4-tier actionable classification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730752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▪ Explainable to maintenance engineers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1F4E79"/>
                </a:solidFill>
                <a:latin typeface="Calibri"/>
              </a:rPr>
              <a:t>→ Predict before it breaks. Schedule before it costs.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6,000 records | 20 aircraft | 4 component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2377440" cy="1280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6,000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94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417320"/>
            <a:ext cx="2377440" cy="1280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5087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194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Raw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880360"/>
            <a:ext cx="2377440" cy="1280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9718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657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Aircraft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880360"/>
            <a:ext cx="2377440" cy="1280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29718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657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Components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343400"/>
            <a:ext cx="2377440" cy="12801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43484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5120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Failure Events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4343400"/>
            <a:ext cx="2377440" cy="1280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443484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42:1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5120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Class Ratio</a:t>
            </a:r>
          </a:p>
        </p:txBody>
      </p:sp>
      <p:pic>
        <p:nvPicPr>
          <p:cNvPr id="24" name="Picture 23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309360" cy="3657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4320" y="62179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Calibri"/>
              </a:rPr>
              <a:t>⚠ Only 2.3% of records are failures — class imbalance is the core challenge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EDA: Key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What the data tells us before any modelling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boxplots_by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731520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1371600"/>
            <a:ext cx="4206240" cy="3931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463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393192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▪ Fault codes: strongest raw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322576"/>
            <a:ext cx="393192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▪ Vibration elevated before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724912"/>
            <a:ext cx="393192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▪ Temperature mild separation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127248"/>
            <a:ext cx="393192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▪ Humidity/ambient: low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529584"/>
            <a:ext cx="393192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▪ Engine1 &amp; Wing: highest 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931920"/>
            <a:ext cx="393192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▪ Failures cluster in later flight cycles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" y="5486400"/>
            <a:ext cx="1179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1F4E79"/>
                </a:solidFill>
                <a:latin typeface="Calibri"/>
              </a:rPr>
              <a:t>→ No single sensor predicts failure alone — temporal patterns matter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From snapshots to trajectories — 13 → 43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657600" cy="18288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Rolling 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19456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Mean &amp; std dev over
3 and 5 cycles per sensor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554480"/>
            <a:ext cx="3657600" cy="1828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Rate of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19456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First-difference of
each sensor reading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657600" cy="1828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Fault Accumulation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19456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Cumulative &amp; rolling
5-cycle fault totals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3657600" cy="1828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794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Composite Stress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429768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Vibration + Pressure
z-score 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3657600"/>
            <a:ext cx="3657600" cy="18288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794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29768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Vibration × Temperature
Drift × Faults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657600"/>
            <a:ext cx="3657600" cy="18288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3794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Maint. Urgency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9768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Fault count × cycles
since last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76072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★  fault_roll5_sum (rolling 5-cycle fault sum) = #1 predictor, 68% of model gain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Model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Best model: XGBoost | Evaluated on held-out 20% test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37744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544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0.9993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40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463040"/>
            <a:ext cx="2377440" cy="1280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5544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0.9687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240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PR-AUC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463040"/>
            <a:ext cx="2377440" cy="1280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5544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0.9333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F1 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1463040"/>
            <a:ext cx="2377440" cy="12801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15544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240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pic>
        <p:nvPicPr>
          <p:cNvPr id="18" name="Picture 17" descr="07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063240"/>
            <a:ext cx="7589520" cy="32004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863840" y="3063240"/>
            <a:ext cx="4114800" cy="32004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3154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3154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PR-AUC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154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Recall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5661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4E79"/>
                </a:solidFill>
                <a:latin typeface="Calibri"/>
              </a:rPr>
              <a:t>Logistic Regression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5661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E79"/>
                </a:solidFill>
                <a:latin typeface="Calibri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35661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E79"/>
                </a:solidFill>
                <a:latin typeface="Calibri"/>
              </a:rPr>
              <a:t>0.857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1330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4E79"/>
                </a:solidFill>
                <a:latin typeface="Calibri"/>
              </a:rPr>
              <a:t>Random Forest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4133087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E79"/>
                </a:solidFill>
                <a:latin typeface="Calibri"/>
              </a:rPr>
              <a:t>0.875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4133087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E79"/>
                </a:solidFill>
                <a:latin typeface="Calibri"/>
              </a:rPr>
              <a:t>0.929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700016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4E79"/>
                </a:solidFill>
                <a:latin typeface="Calibri"/>
              </a:rPr>
              <a:t>LightGBM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700016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E79"/>
                </a:solidFill>
                <a:latin typeface="Calibri"/>
              </a:rPr>
              <a:t>0.937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4700016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E79"/>
                </a:solidFill>
                <a:latin typeface="Calibri"/>
              </a:rPr>
              <a:t>0.893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5266944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  <a:latin typeface="Calibri"/>
              </a:rPr>
              <a:t>XGBoost 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5266944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7AE60"/>
                </a:solidFill>
                <a:latin typeface="Calibri"/>
              </a:rPr>
              <a:t>0.969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5266944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7AE60"/>
                </a:solidFill>
                <a:latin typeface="Calibri"/>
              </a:rPr>
              <a:t>1.000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Why Does the Model Predict Failure?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Feature importance + SHAP explainability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6400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0" y="1371600"/>
            <a:ext cx="5029200" cy="4114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463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What This Means for Engineers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▪ fault_roll5_sum (68%): rapid fault
   accumulation = imminent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56032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▪ fault_roll5_mean (21%): sustained
   fault intensity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10896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▪ cumulative_faults: overall
   component wear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65760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▪ Vibration trend: mechanical
   degradation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206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▪ Sensor drift: unreliable data
   correlates with real 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5669280"/>
            <a:ext cx="1179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1F4E79"/>
                </a:solidFill>
                <a:latin typeface="Calibri"/>
              </a:rPr>
              <a:t>→ The model mirrors what experienced engineers know: faults don't happen in isolation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Choosing the Right Alert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Balancing missed failures vs unnecessary inspections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2_threshold_opti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71323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1371600"/>
            <a:ext cx="4389120" cy="3931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4630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Threshold Guide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011680"/>
            <a:ext cx="4114800" cy="8686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202996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Safety-critical:  0.20–0.30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3957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Max recall, more checks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3017520"/>
            <a:ext cx="4114800" cy="8686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303580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Balanced ops:  0.50–0.58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Optimal F1 (default)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4023360"/>
            <a:ext cx="4114800" cy="8686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404164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Cost-saving:  0.65–0.75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074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Fewer alerts, some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5486400"/>
            <a:ext cx="1179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  <a:latin typeface="Calibri"/>
              </a:rPr>
              <a:t>At threshold 0.58: F1 = 0.949 | Recall = 1.00 | Precision = 0.903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Maintenance Decision Support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From model output to actionable maintenance orders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3_risk_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713232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1371600"/>
            <a:ext cx="4389120" cy="34747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417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Risk Tiers &amp; Actions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874519"/>
            <a:ext cx="4114800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1892807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🔴  CRITICAL  (≥0.60)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17627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Ground immediately — urgent inspection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2606039"/>
            <a:ext cx="4114800" cy="6400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62432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🟠  HIGH  (0.35–0.59)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907791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Flag for next maintenance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337560"/>
            <a:ext cx="4114800" cy="640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335584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🟡  MEDIUM  (0.15–0.34)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63931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Increase monitoring frequency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4069080"/>
            <a:ext cx="411480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408736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🟢  LOW  (&lt;0.15)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37083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Standard operations — routine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5029200"/>
            <a:ext cx="11795760" cy="1188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20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1. Ingest sensor data after each flight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120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2. Compute engineered features per component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120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3. Score with XGBoost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5120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4. Assign risk tier → trigger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5120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5. Log outcome for model retraining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 Light"/>
              </a:rPr>
              <a:t>Challenges &amp;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 Light"/>
              </a:rPr>
              <a:t>Honest assessment of limitations and deployment considerations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463040"/>
            <a:ext cx="5760720" cy="47548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Technical Challenges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011680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42:1 class imbalance — accuracy is
   misleading; PR-AUC is the right 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88336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Temporal structure needs careful
   per-group rolling feature computation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364992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Small positive class (140) limits
   statistical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041648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Possible feature leakage: cumulative
   features require historical-only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760720" cy="4754880"/>
          </a:xfrm>
          <a:prstGeom prst="rect">
            <a:avLst/>
          </a:prstGeom>
          <a:solidFill>
            <a:srgbClr val="FB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22"/>
                </a:solidFill>
                <a:latin typeface="Calibri"/>
              </a:rPr>
              <a:t>Key Assumptions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11680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Humidity &amp; ambient temp appear noisy
   in this dataset — may be excluded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688336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Assumes flight_cycles correctly orders
   records chronologically per aircraft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364992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last_maintenance_cycles = 0 treated
   as 'freshly maintained', not missing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41648"/>
            <a:ext cx="54864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  <a:latin typeface="Calibri"/>
              </a:rPr>
              <a:t>▪ Model needs quarterly retraining
   as fleet ages and usage changes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6537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E4F0"/>
                </a:solidFill>
                <a:latin typeface="Calibri"/>
              </a:rPr>
              <a:t>RCAA — Predictive Maintenance Assessment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5379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E4F0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 Light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960120"/>
            <a:ext cx="66751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560320" cy="13716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0.9993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188720"/>
            <a:ext cx="2560320" cy="13716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2344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0.9687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PR-AUC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2560320" cy="1371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2344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188720"/>
            <a:ext cx="25603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2344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0.9333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7889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XGBoost with temporal feature engineering achieves near-perfect failure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192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Rolling fault accumulation (fault_roll5_sum) is the decisive predictor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84962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Model is ready for proof-of-concept integration with FDMS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79975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Threshold can be tuned to match the airline's risk tolerance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4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 Light"/>
              </a:rPr>
              <a:t>Thank you — Questions welcome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0"/>
                </a:solidFill>
                <a:latin typeface="Calibri"/>
              </a:rPr>
              <a:t>Rwanda Civil Aviation Authority |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